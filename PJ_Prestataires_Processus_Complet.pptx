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98DEE-D3DD-41FA-B744-3E665368C656}" v="4" dt="2026-02-02T15:51:24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10"/>
  </p:normalViewPr>
  <p:slideViewPr>
    <p:cSldViewPr snapToGrid="0" snapToObjects="1">
      <p:cViewPr>
        <p:scale>
          <a:sx n="117" d="100"/>
          <a:sy n="117" d="100"/>
        </p:scale>
        <p:origin x="9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MANUEL SIMON" userId="742f637124b3b431" providerId="LiveId" clId="{BA4C16FB-7973-468C-80ED-CDCBD9546655}"/>
    <pc:docChg chg="undo custSel modSld">
      <pc:chgData name="JESUS MANUEL SIMON" userId="742f637124b3b431" providerId="LiveId" clId="{BA4C16FB-7973-468C-80ED-CDCBD9546655}" dt="2026-02-02T15:51:40.568" v="100" actId="1038"/>
      <pc:docMkLst>
        <pc:docMk/>
      </pc:docMkLst>
      <pc:sldChg chg="modSp mod">
        <pc:chgData name="JESUS MANUEL SIMON" userId="742f637124b3b431" providerId="LiveId" clId="{BA4C16FB-7973-468C-80ED-CDCBD9546655}" dt="2026-02-02T14:48:04.717" v="11" actId="20577"/>
        <pc:sldMkLst>
          <pc:docMk/>
          <pc:sldMk cId="0" sldId="257"/>
        </pc:sldMkLst>
        <pc:spChg chg="mod">
          <ac:chgData name="JESUS MANUEL SIMON" userId="742f637124b3b431" providerId="LiveId" clId="{BA4C16FB-7973-468C-80ED-CDCBD9546655}" dt="2026-02-02T14:48:04.717" v="1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ESUS MANUEL SIMON" userId="742f637124b3b431" providerId="LiveId" clId="{BA4C16FB-7973-468C-80ED-CDCBD9546655}" dt="2026-02-02T15:48:29.729" v="15" actId="14100"/>
        <pc:sldMkLst>
          <pc:docMk/>
          <pc:sldMk cId="0" sldId="258"/>
        </pc:sldMkLst>
        <pc:spChg chg="mod">
          <ac:chgData name="JESUS MANUEL SIMON" userId="742f637124b3b431" providerId="LiveId" clId="{BA4C16FB-7973-468C-80ED-CDCBD9546655}" dt="2026-02-02T15:47:46.209" v="14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ESUS MANUEL SIMON" userId="742f637124b3b431" providerId="LiveId" clId="{BA4C16FB-7973-468C-80ED-CDCBD9546655}" dt="2026-02-02T15:48:29.729" v="15" actId="14100"/>
          <ac:spMkLst>
            <pc:docMk/>
            <pc:sldMk cId="0" sldId="258"/>
            <ac:spMk id="29" creationId="{00000000-0000-0000-0000-000000000000}"/>
          </ac:spMkLst>
        </pc:spChg>
      </pc:sldChg>
      <pc:sldChg chg="modSp mod">
        <pc:chgData name="JESUS MANUEL SIMON" userId="742f637124b3b431" providerId="LiveId" clId="{BA4C16FB-7973-468C-80ED-CDCBD9546655}" dt="2026-02-02T15:49:14.582" v="16" actId="404"/>
        <pc:sldMkLst>
          <pc:docMk/>
          <pc:sldMk cId="0" sldId="260"/>
        </pc:sldMkLst>
        <pc:spChg chg="mod">
          <ac:chgData name="JESUS MANUEL SIMON" userId="742f637124b3b431" providerId="LiveId" clId="{BA4C16FB-7973-468C-80ED-CDCBD9546655}" dt="2026-02-02T15:49:14.582" v="16" actId="404"/>
          <ac:spMkLst>
            <pc:docMk/>
            <pc:sldMk cId="0" sldId="260"/>
            <ac:spMk id="19" creationId="{00000000-0000-0000-0000-000000000000}"/>
          </ac:spMkLst>
        </pc:spChg>
      </pc:sldChg>
      <pc:sldChg chg="addSp modSp mod">
        <pc:chgData name="JESUS MANUEL SIMON" userId="742f637124b3b431" providerId="LiveId" clId="{BA4C16FB-7973-468C-80ED-CDCBD9546655}" dt="2026-02-02T15:51:40.568" v="100" actId="1038"/>
        <pc:sldMkLst>
          <pc:docMk/>
          <pc:sldMk cId="0" sldId="262"/>
        </pc:sldMkLst>
        <pc:spChg chg="mod">
          <ac:chgData name="JESUS MANUEL SIMON" userId="742f637124b3b431" providerId="LiveId" clId="{BA4C16FB-7973-468C-80ED-CDCBD9546655}" dt="2026-02-02T15:51:25.992" v="38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ESUS MANUEL SIMON" userId="742f637124b3b431" providerId="LiveId" clId="{BA4C16FB-7973-468C-80ED-CDCBD9546655}" dt="2026-02-02T15:51:40.568" v="100" actId="103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ESUS MANUEL SIMON" userId="742f637124b3b431" providerId="LiveId" clId="{BA4C16FB-7973-468C-80ED-CDCBD9546655}" dt="2026-02-02T15:50:18.787" v="22" actId="14100"/>
          <ac:spMkLst>
            <pc:docMk/>
            <pc:sldMk cId="0" sldId="262"/>
            <ac:spMk id="31" creationId="{00000000-0000-0000-0000-000000000000}"/>
          </ac:spMkLst>
        </pc:spChg>
        <pc:spChg chg="add mod">
          <ac:chgData name="JESUS MANUEL SIMON" userId="742f637124b3b431" providerId="LiveId" clId="{BA4C16FB-7973-468C-80ED-CDCBD9546655}" dt="2026-02-02T15:51:26.153" v="39" actId="14100"/>
          <ac:spMkLst>
            <pc:docMk/>
            <pc:sldMk cId="0" sldId="262"/>
            <ac:spMk id="40" creationId="{FD634D62-98C1-E7E3-5E9F-810AC40DAD54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2" creationId="{1F16C6D6-E0B9-2AFF-5933-C4CA44EC12C4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3" creationId="{FCF62154-64F0-25CB-34D2-73F313DBF140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4" creationId="{5DA7CEFD-CAA1-6FDC-B517-CFAF8CCB35FD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6" creationId="{07C46228-A7C5-679E-4FDC-B56B6F325811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7" creationId="{8679CA4A-C969-A1B1-0710-04023F9D6E21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8" creationId="{2A8470EF-0B22-D9F3-3B99-DA9388769F4A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49" creationId="{54926856-B289-2A73-0260-3293FD4F93C6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50" creationId="{93F9D7BB-5027-4683-59C7-EA664E397232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52" creationId="{E855FF82-E782-0331-17B7-40B83286AA1D}"/>
          </ac:spMkLst>
        </pc:spChg>
        <pc:spChg chg="add mod">
          <ac:chgData name="JESUS MANUEL SIMON" userId="742f637124b3b431" providerId="LiveId" clId="{BA4C16FB-7973-468C-80ED-CDCBD9546655}" dt="2026-02-02T15:51:24.061" v="33" actId="571"/>
          <ac:spMkLst>
            <pc:docMk/>
            <pc:sldMk cId="0" sldId="262"/>
            <ac:spMk id="54" creationId="{016EC55A-8824-6208-A9C0-7EFA97B260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38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Objectif : expliquer le fonctionnement end-to-end et les points de contrôle.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Message clé : une couche d’orchestration (PowerShell) + une couche métier/traçabilité (SQL) + import natif AEOS.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Mettre en avant la séparation des responsabilités : orchestration vs règles SQL vs import natif AEOS.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Insister sur la traçabilité : un RunId = un cycle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Décrire la robustesse face aux encodages/separateurs courants.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Positionner cette étape comme “couche de sécurisation/standardisation”.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Clarifier l’option : avec SOAP, on comble automatiquement les vendors manquants.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Bien expliquer : la SP prépare la queue dbo.import ; AEOS applique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Mettre l’accent sur l’auditabilité : logs + tables dédiées.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Cette slide doit donner confiance : reproductible et industrialisable.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Mettre l’accent sur la simplicité des contrôles : log + 2 requêtes.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Documentation interne fournie (scripts PowerShell, configuration JSON, SQL, exemple CSV).
[/Sources]
Clôturer sur la valeur : reproductible, traçable, sécurisé.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8291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0898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5677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2939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0706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2120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2320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3393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8429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8087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4564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38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22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10545775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 dirty="0"/>
          </a:p>
        </p:txBody>
      </p:sp>
      <p:sp>
        <p:nvSpPr>
          <p:cNvPr id="4" name="Text 2"/>
          <p:cNvSpPr/>
          <p:nvPr/>
        </p:nvSpPr>
        <p:spPr>
          <a:xfrm>
            <a:off x="1280160" y="1508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</a:t>
            </a:r>
            <a:r>
              <a:rPr lang="en-US" sz="3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“Interface PJ </a:t>
            </a:r>
            <a:r>
              <a:rPr lang="en-US" sz="36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</a:t>
            </a: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8016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client : de la réception du fichier CSV jusqu’à l’import AEOS, avec traçabilité et contrôles.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429000"/>
            <a:ext cx="9509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8" name="Shape 6"/>
          <p:cNvSpPr/>
          <p:nvPr/>
        </p:nvSpPr>
        <p:spPr>
          <a:xfrm>
            <a:off x="1554480" y="3639312"/>
            <a:ext cx="1645920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1554480" y="36941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3639312"/>
            <a:ext cx="164592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886200" y="36941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3639312"/>
            <a:ext cx="1645920" cy="310896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446520" y="36941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3639312"/>
            <a:ext cx="1645920" cy="31089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8732520" y="36941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794760"/>
            <a:ext cx="6126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7" name="Shape 15"/>
          <p:cNvSpPr/>
          <p:nvPr/>
        </p:nvSpPr>
        <p:spPr>
          <a:xfrm>
            <a:off x="5577840" y="3794760"/>
            <a:ext cx="8412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5669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9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– version client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l’interface — et ce qu’elle ne fait pas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57784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l’intégration des prestataires dans AEOS à partir d’un export CSV.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attendus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Création / mise à jour des prestataires (queue AEOS)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Blocage contrôlé des prestataires absents du fichier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des sociétés (vendors) : contrôle DB + option SOAP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Traçabilité : logs + tables HIST/AUDIT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051560"/>
            <a:ext cx="5102352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6766560" y="125272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/ sorties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Entrée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87452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949440" y="19842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prestataires.csv (dossier 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Sorties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278892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6949440" y="28986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Archivage du fichier + log journalier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3657600"/>
            <a:ext cx="5102352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6766560" y="385876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Paramétrage fonctionnel AEOS (catégories, champs libres)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Modification de règles métier côté AEOS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Gestion des badges physiques (si non fournie par l’import)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techniques et responsabilités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56616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82880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Fichier CSV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(prestataires.csv)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Dossier 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097280"/>
            <a:ext cx="356616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PowerShell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01-Import-Accredites.ps1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2926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4846320" y="30815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Config JSON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+ Credentials DPAPI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977640"/>
            <a:ext cx="2926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4846320" y="416052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Logs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4155"/>
                </a:solidFill>
              </a:rPr>
              <a:t>+ Archivage 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1097280"/>
            <a:ext cx="3319272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8549640" y="1298448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9640" y="1828800"/>
            <a:ext cx="2697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8641080" y="19659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SQL Server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(aeosdb)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49640" y="3063240"/>
            <a:ext cx="2697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8641080" y="3182112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dbo.import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(queue AEOS)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49640" y="4160520"/>
            <a:ext cx="2697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8641080" y="4343400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AEOS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Import natif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+ VendorService (option)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77640" y="3437164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8" name="Shape 26"/>
          <p:cNvSpPr/>
          <p:nvPr/>
        </p:nvSpPr>
        <p:spPr>
          <a:xfrm>
            <a:off x="7726680" y="2743200"/>
            <a:ext cx="777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9" name="Shape 27"/>
          <p:cNvSpPr/>
          <p:nvPr/>
        </p:nvSpPr>
        <p:spPr>
          <a:xfrm>
            <a:off x="7726680" y="4526280"/>
            <a:ext cx="7772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1" name="Text 29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end-to-end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d’un run (du dépôt CSV à AEOS)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27432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 / 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47288" y="114300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3447288" y="1143000"/>
            <a:ext cx="27432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447288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45936" y="114300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Shape 11"/>
          <p:cNvSpPr/>
          <p:nvPr/>
        </p:nvSpPr>
        <p:spPr>
          <a:xfrm>
            <a:off x="6345936" y="1143000"/>
            <a:ext cx="274320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345936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(aeosdb)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44584" y="1143000"/>
            <a:ext cx="2743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Shape 14"/>
          <p:cNvSpPr/>
          <p:nvPr/>
        </p:nvSpPr>
        <p:spPr>
          <a:xfrm>
            <a:off x="9244584" y="1143000"/>
            <a:ext cx="27432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9244584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173736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841248" y="18288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du fichier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prestataires.csv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75888" y="173736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1" name="Text 19"/>
          <p:cNvSpPr/>
          <p:nvPr/>
        </p:nvSpPr>
        <p:spPr>
          <a:xfrm>
            <a:off x="3739896" y="18288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75888" y="251460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3" name="Text 21"/>
          <p:cNvSpPr/>
          <p:nvPr/>
        </p:nvSpPr>
        <p:spPr>
          <a:xfrm>
            <a:off x="3739896" y="260604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staging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(SqlBulkCopy)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75888" y="333756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5" name="Text 23"/>
          <p:cNvSpPr/>
          <p:nvPr/>
        </p:nvSpPr>
        <p:spPr>
          <a:xfrm>
            <a:off x="3739896" y="3429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vendors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/ SOAP)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74536" y="333756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7" name="Text 25"/>
          <p:cNvSpPr/>
          <p:nvPr/>
        </p:nvSpPr>
        <p:spPr>
          <a:xfrm>
            <a:off x="6638544" y="3429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PJ_PRESTATAIRES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_IMPORT_LOAD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74536" y="416052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9" name="Text 27"/>
          <p:cNvSpPr/>
          <p:nvPr/>
        </p:nvSpPr>
        <p:spPr>
          <a:xfrm>
            <a:off x="6638544" y="425196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dbo.import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(function 9 &amp; 6)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74536" y="489204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1" name="Text 29"/>
          <p:cNvSpPr/>
          <p:nvPr/>
        </p:nvSpPr>
        <p:spPr>
          <a:xfrm>
            <a:off x="6638544" y="49834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+ AUDIT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(compteurs &amp; détails)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473184" y="416052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9537192" y="425196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natif AEOS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(consomme dbo.import)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75888" y="4892040"/>
            <a:ext cx="22860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5" name="Text 33"/>
          <p:cNvSpPr/>
          <p:nvPr/>
        </p:nvSpPr>
        <p:spPr>
          <a:xfrm>
            <a:off x="3739896" y="498348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 du run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91840" y="2057400"/>
            <a:ext cx="1554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7" name="Shape 35"/>
          <p:cNvSpPr/>
          <p:nvPr/>
        </p:nvSpPr>
        <p:spPr>
          <a:xfrm>
            <a:off x="6190488" y="2834640"/>
            <a:ext cx="1554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8" name="Shape 36"/>
          <p:cNvSpPr/>
          <p:nvPr/>
        </p:nvSpPr>
        <p:spPr>
          <a:xfrm>
            <a:off x="6190488" y="3657600"/>
            <a:ext cx="1554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9" name="Shape 37"/>
          <p:cNvSpPr/>
          <p:nvPr/>
        </p:nvSpPr>
        <p:spPr>
          <a:xfrm>
            <a:off x="9089136" y="4480560"/>
            <a:ext cx="1554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40" name="Shape 38"/>
          <p:cNvSpPr/>
          <p:nvPr/>
        </p:nvSpPr>
        <p:spPr>
          <a:xfrm>
            <a:off x="640080" y="5806440"/>
            <a:ext cx="10908792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1" name="Text 39"/>
          <p:cNvSpPr/>
          <p:nvPr/>
        </p:nvSpPr>
        <p:spPr>
          <a:xfrm>
            <a:off x="914400" y="59618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Chaque run est traçable via RunId/RunTs (HIST/AUDIT) et un log journalier. Les identifiants sont stockés via DPAPI (Clixml).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3" name="Text 41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Entrée CSV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colonnes attendues et validations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attendu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Nom strict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874520"/>
            <a:ext cx="5120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1097280" y="1984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prestataires.csv (dans le dossier IN)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Tolérance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80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Encodage détecté (BOM/UTF-8/UTF-16, fallback Windows-1252)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Séparateur détecté (',' ou ';')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Entêtes mappées par synonymes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397764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1143000" y="4133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Colonnes clés (minimum)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4348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Matricule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Noms / Prénoms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Société (nom)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Entreprise (vendor_code)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Réponse (début) / Échéance (fin)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1051560"/>
            <a:ext cx="5010912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7" name="Text 15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(extrait)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1600200"/>
            <a:ext cx="4480560" cy="28803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7040880" y="1783080"/>
            <a:ext cx="40233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Matricule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Prénoms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Société/entreprise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Réponse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Échéance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Entreprise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Remarques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P12345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DUPONT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JEAN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SA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01.01.2026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31.12.2026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ETUDE A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P67890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MARTIN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SOPHIE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 SARL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15.01.2026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15.07.2026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ETUDE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4617720"/>
            <a:ext cx="4480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1" name="Text 19"/>
          <p:cNvSpPr/>
          <p:nvPr/>
        </p:nvSpPr>
        <p:spPr>
          <a:xfrm>
            <a:off x="6995160" y="4773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Contrôles rapides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50749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Lignes sans matricule ou vendor_code : ignorées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Dates : parsing multi-formats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Remarques : nettoyage + tronquage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Traitement (PowerShell)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Normalisation, staging SQL et préparation du run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le 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53949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intelligente entre le fichier brut et AEOS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Lecture contrôlée du dossier IN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Analyse et validation des lignes (pas de “blind import”)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Normalisation (noms, matricules, dates, freefields)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Chargement staging (TRUNCATE + SqlBulkCopy)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Contrôle des vendors (DB / SOAP) avant import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Déclenchement de la SP SQL + collecte des compteurs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Archivage du fichier + log du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051560"/>
            <a:ext cx="5010912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paramètres (JSON)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1504188"/>
            <a:ext cx="4480560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"FolderPathImport"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"D:\\data\\&lt;SITE&gt;\\transferts\\in"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6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FolderPathOutput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"D:\\data\\&lt;SITE&gt;\\transferts\\out"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"SqlServer"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"&lt;SQL_SERVER&gt;"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"SqlDatabase"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"aeosdb"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"StoredProcedureToApply"</a:t>
            </a: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"dbo.PJ_PRESTATAIRES_IMPORT_LOAD"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37960" y="3657600"/>
            <a:ext cx="5010912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858000" y="385876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: principe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4160520"/>
            <a:ext cx="44805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699516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dbo.PJ_PRESTATAIRES_IMPORT_STAGE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TRUNCATE avant chargement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Schéma lu dynamiquement (sys.columns)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Chargement via SqlBulkCopy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batch_id + load_ts pour tracer le run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Vendors (sociétés)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DB + création/mise à jour optionnelle via SOAP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>
            <a:spLocks/>
          </p:cNvSpPr>
          <p:nvPr/>
        </p:nvSpPr>
        <p:spPr>
          <a:xfrm>
            <a:off x="167640" y="1019556"/>
            <a:ext cx="11079480" cy="43113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 traitement des sociétés (vendors)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1783080"/>
            <a:ext cx="23317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1161288" y="187452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Extraire vendor_code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(uniques) depuis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1783080"/>
            <a:ext cx="23317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813048" y="187452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Comparer à dbo.vendor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(vendors existants)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233172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464808" y="187452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Vendors manquants 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90507" y="1783080"/>
            <a:ext cx="2331720" cy="65836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9116568" y="187452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SOAP activé 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112264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7" name="Shape 15"/>
          <p:cNvSpPr/>
          <p:nvPr/>
        </p:nvSpPr>
        <p:spPr>
          <a:xfrm>
            <a:off x="6035040" y="2112264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8" name="Shape 16"/>
          <p:cNvSpPr/>
          <p:nvPr/>
        </p:nvSpPr>
        <p:spPr>
          <a:xfrm>
            <a:off x="8686800" y="2112264"/>
            <a:ext cx="3200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2331720" cy="65836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6464808" y="283464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Non → Débloquer en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(blocked=0 / removaldate=NULL)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20940" y="2441448"/>
            <a:ext cx="0" cy="30175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8046720" y="25328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840" y="2743200"/>
            <a:ext cx="2331720" cy="65836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9116568" y="283464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Oui → VendorService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(VendorAdd / VendorChange)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3566160"/>
            <a:ext cx="233172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9116568" y="365760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Non → Mode DB-only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(sans création)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72700" y="2441448"/>
            <a:ext cx="0" cy="30175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8" name="Text 26"/>
          <p:cNvSpPr/>
          <p:nvPr/>
        </p:nvSpPr>
        <p:spPr>
          <a:xfrm>
            <a:off x="10698480" y="25328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06840" y="4480560"/>
            <a:ext cx="23317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0" name="Text 28"/>
          <p:cNvSpPr/>
          <p:nvPr/>
        </p:nvSpPr>
        <p:spPr>
          <a:xfrm>
            <a:off x="9116568" y="457200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Polling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(timeout)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172700" y="3401568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2" name="Shape 30"/>
          <p:cNvSpPr/>
          <p:nvPr/>
        </p:nvSpPr>
        <p:spPr>
          <a:xfrm>
            <a:off x="6355080" y="4480560"/>
            <a:ext cx="2331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6464808" y="4572000"/>
            <a:ext cx="21122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Continuer le 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(staging → SP)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06840" y="4809744"/>
            <a:ext cx="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35" name="Shape 33"/>
          <p:cNvSpPr/>
          <p:nvPr/>
        </p:nvSpPr>
        <p:spPr>
          <a:xfrm>
            <a:off x="1005840" y="5486400"/>
            <a:ext cx="11064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6" name="Text 34"/>
          <p:cNvSpPr/>
          <p:nvPr/>
        </p:nvSpPr>
        <p:spPr>
          <a:xfrm>
            <a:off x="1234440" y="56509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Point de contrôle : avant d’importer des personnes, garantir que les sociétés existent et ne sont pas bloquées (DB-only ou DB+SOAP).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8" name="Text 36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FD634D62-98C1-E7E3-5E9F-810AC40DAD54}"/>
              </a:ext>
            </a:extLst>
          </p:cNvPr>
          <p:cNvSpPr/>
          <p:nvPr/>
        </p:nvSpPr>
        <p:spPr>
          <a:xfrm>
            <a:off x="10169979" y="4224528"/>
            <a:ext cx="0" cy="16459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Couche 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procédure → queue dbo.import + traçabilité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SQL (simplifiée)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69164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9" name="Shape 7"/>
          <p:cNvSpPr/>
          <p:nvPr/>
        </p:nvSpPr>
        <p:spPr>
          <a:xfrm>
            <a:off x="1124712" y="1856232"/>
            <a:ext cx="109728" cy="5394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1307592" y="185623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1) dbo.PJ_PRESTATAIRES_IMPORT_STAGE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07592" y="2148840"/>
            <a:ext cx="48371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Données normalisées chargées par PowerShell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(batch_id, load_ts, vendor_code, dates…).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60120" y="27432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Shape 11"/>
          <p:cNvSpPr/>
          <p:nvPr/>
        </p:nvSpPr>
        <p:spPr>
          <a:xfrm>
            <a:off x="1124712" y="2907792"/>
            <a:ext cx="109728" cy="5394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1307592" y="290779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2) dbo.PJ_PRESTATAIRES_IMPORT_LOAD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07592" y="3200400"/>
            <a:ext cx="48371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Applique les règles :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upsert prestataires → dbo.import (fn 9)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blocages → dbo.import (fn 6)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0120" y="379476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7" name="Shape 15"/>
          <p:cNvSpPr/>
          <p:nvPr/>
        </p:nvSpPr>
        <p:spPr>
          <a:xfrm>
            <a:off x="1124712" y="3959352"/>
            <a:ext cx="109728" cy="5394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307592" y="395935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3) dbo.import (queue AEOS)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07592" y="4251960"/>
            <a:ext cx="48371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File d’attente consommée par AEOS (import natif).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Contient des lignes function 9 et function 6.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60120" y="484632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1" name="Shape 19"/>
          <p:cNvSpPr/>
          <p:nvPr/>
        </p:nvSpPr>
        <p:spPr>
          <a:xfrm>
            <a:off x="1124712" y="5010912"/>
            <a:ext cx="109728" cy="53949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1307592" y="5010912"/>
            <a:ext cx="4837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4) HIST + AUDIT (PJ_PRESTATAIRES_IMPORT_*)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07592" y="5303520"/>
            <a:ext cx="4837176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Traçabilité :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HIST : 1 ligne par run + compteurs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AUDIT : détails CREATE/UPDATE/BLOCK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3634740" y="256032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5" name="Shape 23"/>
          <p:cNvSpPr/>
          <p:nvPr/>
        </p:nvSpPr>
        <p:spPr>
          <a:xfrm>
            <a:off x="3634740" y="361188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6" name="Shape 24"/>
          <p:cNvSpPr/>
          <p:nvPr/>
        </p:nvSpPr>
        <p:spPr>
          <a:xfrm>
            <a:off x="3634740" y="4663440"/>
            <a:ext cx="0" cy="18288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fr-CH"/>
          </a:p>
        </p:txBody>
      </p:sp>
      <p:sp>
        <p:nvSpPr>
          <p:cNvPr id="27" name="Shape 25"/>
          <p:cNvSpPr/>
          <p:nvPr/>
        </p:nvSpPr>
        <p:spPr>
          <a:xfrm>
            <a:off x="6537960" y="1051560"/>
            <a:ext cx="5010912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28" name="Text 26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mis en queue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12280" y="1600200"/>
            <a:ext cx="4480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0" name="Text 28"/>
          <p:cNvSpPr/>
          <p:nvPr/>
        </p:nvSpPr>
        <p:spPr>
          <a:xfrm>
            <a:off x="6995160" y="1755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Import_function = 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20574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Création / mise à jour des prestataires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(carriertype=5) depuis le staging.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Traçabilité : AUDIT (CREATE/UPDATE).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12280" y="3886200"/>
            <a:ext cx="4480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699516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Import_function = 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434340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Blocage des prestataires absents du fichier courant,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via comparaison à un snapshot (TAMPON).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Traçabilité : HIST (BlocksQueued).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6" name="Text 34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traçabilité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journalisation et audit des traitements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Gestion des identifiants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Credentials stockés via Export-Clixml (DPAPI)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Aucune donnée sensible dans le 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Les secrets doivent être régénérés sur chaque serveur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ACL NTFS recommandées sur le dossier “secrets”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53949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1143000" y="3547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Bonnes pratiques (client)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858768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Compte de service dédié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Rotation / rétention des logs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Certificats TLS valides (SOAP)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Supervision des erreurs et des volumes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051560"/>
            <a:ext cx="5010912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1600200"/>
            <a:ext cx="4480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6995160" y="1755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Log PowerShell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Exécution, erreurs, résumé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Vendors (DB/SOAP)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RunId / compteurs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12280" y="3200400"/>
            <a:ext cx="44805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6995160" y="3364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SQL (HIST / AUDIT)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675888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HIST : 1 ligne par run (RowsInStage, PersonsQueued, BlocksQueued)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AUDIT : détail CREATE/UPDATE/BLOCK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Permet audit &amp; reconstitution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un nouveau serveur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reproductible (copier → paramétrer → tester → planifier)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(pas à pas)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539496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1) Créer l’arborescence (WorkingDir / Logs / IN / OUT)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2) Copier scripts + accredites.config.json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3) Adapter le JSON (chemins, SQL, SOAP)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4) Déployer SQL : tables + SP PJ_PRESTATAIRES_IMPORT_LOAD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5) Régénérer les secrets (sql_cred.xml, aeos-soap.cred.clixml)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6) Lancer un run manuel de recette (avec un CSV test)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7) Vérifier HIST/AUDIT + dbo.import + archivage 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8) Créer la tâche planifiée + supervision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1051560"/>
            <a:ext cx="5010912" cy="2880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de run (exemple)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1600200"/>
            <a:ext cx="4480560" cy="2240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7040880" y="1783080"/>
            <a:ext cx="4023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NoProfile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ExecutionPolicy Bypass \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"D:\\InterfaceAeosPrestatairesPJ\\01-Import-Accredites.ps1" \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ConfigPath "D:\\InterfaceAeosPrestatairesPJ\\config\\accredites.config.json"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4114800"/>
            <a:ext cx="5010912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858000" y="431596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planifiée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4526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Recommandations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48006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Compte de service dédié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Exécuter “que l’utilisateur soit connecté ou non”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Relances en cas d’échec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Fréquence alignée sur le dépôt du CSV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&amp; supervision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simples et indicateurs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opérationnels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Après chaque 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Log du jour : erreurs / warnings / résumé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Fichier archivé dans OUT (timestamp)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HIST : RowsInStage, PersonsQueued, BlocksQueued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AUDIT : détail des actions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• dbo.import : lignes function 9 / 6 en attente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16052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1143000" y="43159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Indicateurs (KPIs)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46177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PersonsQueued ≈ RowsInStage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BlocksQueued cohérent avec les suppressions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Vendors manquants = 0 (idéal)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Aucune erreur SOAP/SQL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1051560"/>
            <a:ext cx="5010912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SQL utiles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1600200"/>
            <a:ext cx="4480560" cy="4526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7040880" y="1783080"/>
            <a:ext cx="4023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 RunTs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RowsInStage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PersonsQueued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BlocksQueued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PJ_PRESTATAIRES_IMPORT_HIST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RunTs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@RunId uniqueidentifier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RunId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PJ_PRESTATAIRES_IMPORT_HIST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RunTs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ActionType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PersonnelNr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VendorCode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PJ_PRESTATAIRES_IMPORT_AUDIT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@RunId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AuditId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438912"/>
            <a:ext cx="10789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client et prochaines étapes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571500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Automatisation et réduction des opérations manuelles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Robustesse face aux variations de fichiers (encodage / séparateur / formats de dates)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Traçabilité complète (logs + HIST/AUDIT)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Intégration progressive : DB-only ou DB+SOAP pour les sociétés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Déploiement reproductible sur un nouveau serveur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466344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114300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Prochaines étapes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5102352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1) Validation client (process + responsabilités)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2) Recette sur environnement cible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3) Mise en production + supervision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051560"/>
            <a:ext cx="5010912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858000" y="1252728"/>
            <a:ext cx="4370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en une ligne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1828800"/>
            <a:ext cx="448056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7086600" y="21488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CSV → (contrôle &amp; normalisation) → SQL staging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→ vendors (DB/SOAP) → SP → dbo.import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→ import natif AEOS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Le tout traçable par RunId.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5577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Merci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PJ Prestataires → AEOS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65653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2230</Words>
  <Application>Microsoft Office PowerPoint</Application>
  <PresentationFormat>Grand écran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Gill Sans MT</vt:lpstr>
      <vt:lpstr>Galerie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PJ ACCREDITES</dc:creator>
  <cp:lastModifiedBy>JESUS MANUEL SIMON</cp:lastModifiedBy>
  <cp:revision>2</cp:revision>
  <dcterms:created xsi:type="dcterms:W3CDTF">2026-02-02T13:28:44Z</dcterms:created>
  <dcterms:modified xsi:type="dcterms:W3CDTF">2026-02-02T15:51:49Z</dcterms:modified>
</cp:coreProperties>
</file>